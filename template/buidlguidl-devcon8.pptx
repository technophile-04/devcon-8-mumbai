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VENT_LINE"/>
          <p:cNvSpPr txBox="1"/>
          <p:nvPr/>
        </p:nvSpPr>
        <p:spPr>
          <a:xfrm>
            <a:off x="762000" y="1270000"/>
            <a:ext cx="635000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Devcon 8 · Builder Enablement &amp; BuidlGuidl</a:t>
            </a:r>
          </a:p>
        </p:txBody>
      </p:sp>
      <p:sp>
        <p:nvSpPr>
          <p:cNvPr id="102" name="Talk title"/>
          <p:cNvSpPr>
            <a:spLocks noGrp="1"/>
          </p:cNvSpPr>
          <p:nvPr>
            <p:ph type="title"/>
          </p:nvPr>
        </p:nvSpPr>
        <p:spPr>
          <a:xfrm>
            <a:off x="762000" y="1778000"/>
            <a:ext cx="5334000" cy="1968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5050"/>
              </a:lnSpc>
              <a:spcBef>
                <a:spcPts val="0"/>
              </a:spcBef>
              <a:buNone/>
              <a:defRPr sz="48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Talk title</a:t>
            </a:r>
          </a:p>
        </p:txBody>
      </p:sp>
      <p:sp>
        <p:nvSpPr>
          <p:cNvPr id="103" name="Speaker name"/>
          <p:cNvSpPr>
            <a:spLocks noGrp="1"/>
          </p:cNvSpPr>
          <p:nvPr>
            <p:ph type="body" idx="1"/>
          </p:nvPr>
        </p:nvSpPr>
        <p:spPr>
          <a:xfrm>
            <a:off x="762000" y="3962400"/>
            <a:ext cx="5715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04" name="Role or handle"/>
          <p:cNvSpPr>
            <a:spLocks noGrp="1"/>
          </p:cNvSpPr>
          <p:nvPr>
            <p:ph type="body" idx="2"/>
          </p:nvPr>
        </p:nvSpPr>
        <p:spPr>
          <a:xfrm>
            <a:off x="762000" y="4368800"/>
            <a:ext cx="5715000" cy="298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Role · @handle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tatement"/>
          <p:cNvSpPr>
            <a:spLocks noGrp="1"/>
          </p:cNvSpPr>
          <p:nvPr>
            <p:ph type="body" idx="1"/>
          </p:nvPr>
        </p:nvSpPr>
        <p:spPr>
          <a:xfrm>
            <a:off x="762000" y="1905000"/>
            <a:ext cx="10668000" cy="254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6300"/>
              </a:lnSpc>
              <a:spcBef>
                <a:spcPts val="0"/>
              </a:spcBef>
              <a:buNone/>
              <a:defRPr sz="60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One big line, one highlighted phrase</a:t>
            </a:r>
          </a:p>
        </p:txBody>
      </p:sp>
      <p:sp>
        <p:nvSpPr>
          <p:cNvPr id="106" name="Sub-line"/>
          <p:cNvSpPr>
            <a:spLocks noGrp="1"/>
          </p:cNvSpPr>
          <p:nvPr>
            <p:ph type="body" idx="2"/>
          </p:nvPr>
        </p:nvSpPr>
        <p:spPr>
          <a:xfrm>
            <a:off x="762000" y="4826000"/>
            <a:ext cx="10668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Optional sub-line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ing + body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Heading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668000" cy="1117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buNone/>
              <a:defRPr sz="40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08" name="Body"/>
          <p:cNvSpPr>
            <a:spLocks noGrp="1"/>
          </p:cNvSpPr>
          <p:nvPr>
            <p:ph type="body" idx="1"/>
          </p:nvPr>
        </p:nvSpPr>
        <p:spPr>
          <a:xfrm>
            <a:off x="762000" y="2032000"/>
            <a:ext cx="10668000" cy="421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406400" indent="-406400" algn="l">
              <a:lnSpc>
                <a:spcPts val="3100"/>
              </a:lnSpc>
              <a:spcBef>
                <a:spcPts val="1600"/>
              </a:spcBef>
              <a:buClr>
                <a:srgbClr val="808CFF"/>
              </a:buClr>
              <a:buSzPct val="80000"/>
              <a:buFont typeface="Arial"/>
              <a:buChar char="●"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Short lines, at most four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eading + imag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Heading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6680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buNone/>
              <a:defRPr sz="40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10" name="Image panel"/>
          <p:cNvSpPr/>
          <p:nvPr/>
        </p:nvSpPr>
        <p:spPr>
          <a:xfrm>
            <a:off x="762000" y="1473200"/>
            <a:ext cx="10668000" cy="4775200"/>
          </a:xfrm>
          <a:prstGeom prst="roundRect">
            <a:avLst>
              <a:gd name="adj" fmla="val 2128"/>
            </a:avLst>
          </a:prstGeom>
          <a:solidFill>
            <a:srgbClr val="D8D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Image"/>
          <p:cNvSpPr>
            <a:spLocks noGrp="1"/>
          </p:cNvSpPr>
          <p:nvPr>
            <p:ph type="pic" idx="1"/>
          </p:nvPr>
        </p:nvSpPr>
        <p:spPr>
          <a:xfrm>
            <a:off x="1016000" y="1727200"/>
            <a:ext cx="10160000" cy="4267200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Heading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6680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buNone/>
              <a:defRPr sz="40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13" name="Card 1"/>
          <p:cNvSpPr/>
          <p:nvPr/>
        </p:nvSpPr>
        <p:spPr>
          <a:xfrm>
            <a:off x="762000" y="1651000"/>
            <a:ext cx="3352800" cy="330200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Pill 1"/>
          <p:cNvSpPr/>
          <p:nvPr/>
        </p:nvSpPr>
        <p:spPr>
          <a:xfrm>
            <a:off x="1066800" y="1955800"/>
            <a:ext cx="609600" cy="406400"/>
          </a:xfrm>
          <a:prstGeom prst="roundRect">
            <a:avLst>
              <a:gd name="adj" fmla="val 25000"/>
            </a:avLst>
          </a:prstGeom>
          <a:solidFill>
            <a:srgbClr val="808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Pill number 1"/>
          <p:cNvSpPr txBox="1"/>
          <p:nvPr/>
        </p:nvSpPr>
        <p:spPr>
          <a:xfrm>
            <a:off x="1066800" y="2044700"/>
            <a:ext cx="609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16" name="Column 1 title"/>
          <p:cNvSpPr>
            <a:spLocks noGrp="1"/>
          </p:cNvSpPr>
          <p:nvPr>
            <p:ph type="body" idx="1"/>
          </p:nvPr>
        </p:nvSpPr>
        <p:spPr>
          <a:xfrm>
            <a:off x="1066800" y="2565400"/>
            <a:ext cx="2743200" cy="762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Column title</a:t>
            </a:r>
          </a:p>
        </p:txBody>
      </p:sp>
      <p:sp>
        <p:nvSpPr>
          <p:cNvPr id="117" name="Column 1 text"/>
          <p:cNvSpPr>
            <a:spLocks noGrp="1"/>
          </p:cNvSpPr>
          <p:nvPr>
            <p:ph type="body" idx="2"/>
          </p:nvPr>
        </p:nvSpPr>
        <p:spPr>
          <a:xfrm>
            <a:off x="1066800" y="3454400"/>
            <a:ext cx="2743200" cy="127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One or two short lines</a:t>
            </a:r>
          </a:p>
        </p:txBody>
      </p:sp>
      <p:sp>
        <p:nvSpPr>
          <p:cNvPr id="118" name="Card 2"/>
          <p:cNvSpPr/>
          <p:nvPr/>
        </p:nvSpPr>
        <p:spPr>
          <a:xfrm>
            <a:off x="4419600" y="1651000"/>
            <a:ext cx="3352800" cy="330200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Pill 2"/>
          <p:cNvSpPr/>
          <p:nvPr/>
        </p:nvSpPr>
        <p:spPr>
          <a:xfrm>
            <a:off x="4724400" y="1955800"/>
            <a:ext cx="609600" cy="406400"/>
          </a:xfrm>
          <a:prstGeom prst="roundRect">
            <a:avLst>
              <a:gd name="adj" fmla="val 25000"/>
            </a:avLst>
          </a:prstGeom>
          <a:solidFill>
            <a:srgbClr val="FF6E1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Pill number 2"/>
          <p:cNvSpPr txBox="1"/>
          <p:nvPr/>
        </p:nvSpPr>
        <p:spPr>
          <a:xfrm>
            <a:off x="4724400" y="2044700"/>
            <a:ext cx="609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21" name="Column 2 title"/>
          <p:cNvSpPr>
            <a:spLocks noGrp="1"/>
          </p:cNvSpPr>
          <p:nvPr>
            <p:ph type="body" idx="3"/>
          </p:nvPr>
        </p:nvSpPr>
        <p:spPr>
          <a:xfrm>
            <a:off x="4724400" y="2565400"/>
            <a:ext cx="2743200" cy="762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Column title</a:t>
            </a:r>
          </a:p>
        </p:txBody>
      </p:sp>
      <p:sp>
        <p:nvSpPr>
          <p:cNvPr id="122" name="Column 2 text"/>
          <p:cNvSpPr>
            <a:spLocks noGrp="1"/>
          </p:cNvSpPr>
          <p:nvPr>
            <p:ph type="body" idx="4"/>
          </p:nvPr>
        </p:nvSpPr>
        <p:spPr>
          <a:xfrm>
            <a:off x="4724400" y="3454400"/>
            <a:ext cx="2743200" cy="127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One or two short lines</a:t>
            </a:r>
          </a:p>
        </p:txBody>
      </p:sp>
      <p:sp>
        <p:nvSpPr>
          <p:cNvPr id="123" name="Card 3"/>
          <p:cNvSpPr/>
          <p:nvPr/>
        </p:nvSpPr>
        <p:spPr>
          <a:xfrm>
            <a:off x="8077200" y="1651000"/>
            <a:ext cx="3352800" cy="330200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Pill 3"/>
          <p:cNvSpPr/>
          <p:nvPr/>
        </p:nvSpPr>
        <p:spPr>
          <a:xfrm>
            <a:off x="8382000" y="1955800"/>
            <a:ext cx="609600" cy="406400"/>
          </a:xfrm>
          <a:prstGeom prst="roundRect">
            <a:avLst>
              <a:gd name="adj" fmla="val 25000"/>
            </a:avLst>
          </a:prstGeom>
          <a:solidFill>
            <a:srgbClr val="B5DC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Pill number 3"/>
          <p:cNvSpPr txBox="1"/>
          <p:nvPr/>
        </p:nvSpPr>
        <p:spPr>
          <a:xfrm>
            <a:off x="8382000" y="2044700"/>
            <a:ext cx="609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26" name="Column 3 title"/>
          <p:cNvSpPr>
            <a:spLocks noGrp="1"/>
          </p:cNvSpPr>
          <p:nvPr>
            <p:ph type="body" idx="5"/>
          </p:nvPr>
        </p:nvSpPr>
        <p:spPr>
          <a:xfrm>
            <a:off x="8382000" y="2565400"/>
            <a:ext cx="2743200" cy="762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Column title</a:t>
            </a:r>
          </a:p>
        </p:txBody>
      </p:sp>
      <p:sp>
        <p:nvSpPr>
          <p:cNvPr id="127" name="Column 3 text"/>
          <p:cNvSpPr>
            <a:spLocks noGrp="1"/>
          </p:cNvSpPr>
          <p:nvPr>
            <p:ph type="body" idx="6"/>
          </p:nvPr>
        </p:nvSpPr>
        <p:spPr>
          <a:xfrm>
            <a:off x="8382000" y="3454400"/>
            <a:ext cx="2743200" cy="127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One or two short lines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art number"/>
          <p:cNvSpPr>
            <a:spLocks noGrp="1"/>
          </p:cNvSpPr>
          <p:nvPr>
            <p:ph type="body" idx="1"/>
          </p:nvPr>
        </p:nvSpPr>
        <p:spPr>
          <a:xfrm>
            <a:off x="762000" y="2489200"/>
            <a:ext cx="6350000" cy="298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Part 1</a:t>
            </a:r>
          </a:p>
        </p:txBody>
      </p:sp>
      <p:sp>
        <p:nvSpPr>
          <p:cNvPr id="129" name="Part title"/>
          <p:cNvSpPr>
            <a:spLocks noGrp="1"/>
          </p:cNvSpPr>
          <p:nvPr>
            <p:ph type="title"/>
          </p:nvPr>
        </p:nvSpPr>
        <p:spPr>
          <a:xfrm>
            <a:off x="762000" y="2895600"/>
            <a:ext cx="6350000" cy="2413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6300"/>
              </a:lnSpc>
              <a:spcBef>
                <a:spcPts val="0"/>
              </a:spcBef>
              <a:buNone/>
              <a:defRPr sz="60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Part title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Heading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6680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buNone/>
              <a:defRPr sz="4000" b="0">
                <a:solidFill>
                  <a:srgbClr val="FFFCFC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1" name="Code label"/>
          <p:cNvSpPr>
            <a:spLocks noGrp="1"/>
          </p:cNvSpPr>
          <p:nvPr>
            <p:ph type="body" idx="1"/>
          </p:nvPr>
        </p:nvSpPr>
        <p:spPr>
          <a:xfrm>
            <a:off x="762000" y="1625600"/>
            <a:ext cx="10668000" cy="298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9FA9FF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terminal</a:t>
            </a:r>
          </a:p>
        </p:txBody>
      </p:sp>
      <p:sp>
        <p:nvSpPr>
          <p:cNvPr id="132" name="Code"/>
          <p:cNvSpPr>
            <a:spLocks noGrp="1"/>
          </p:cNvSpPr>
          <p:nvPr>
            <p:ph type="body" idx="2"/>
          </p:nvPr>
        </p:nvSpPr>
        <p:spPr>
          <a:xfrm>
            <a:off x="762000" y="2032000"/>
            <a:ext cx="10668000" cy="4064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200"/>
              </a:lnSpc>
              <a:spcBef>
                <a:spcPts val="0"/>
              </a:spcBef>
              <a:buNone/>
              <a:defRPr sz="2200" b="0">
                <a:solidFill>
                  <a:srgbClr val="FFFCFC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r>
              <a:rPr lang="en-US"/>
              <a:t>$ command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Quot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Quote"/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9906000" cy="2095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40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“The quote, up to three lines.”</a:t>
            </a:r>
          </a:p>
        </p:txBody>
      </p:sp>
      <p:sp>
        <p:nvSpPr>
          <p:cNvPr id="134" name="Bar"/>
          <p:cNvSpPr/>
          <p:nvPr/>
        </p:nvSpPr>
        <p:spPr>
          <a:xfrm>
            <a:off x="762000" y="3810000"/>
            <a:ext cx="381000" cy="38100"/>
          </a:xfrm>
          <a:prstGeom prst="rect">
            <a:avLst/>
          </a:prstGeom>
          <a:solidFill>
            <a:srgbClr val="808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Author"/>
          <p:cNvSpPr>
            <a:spLocks noGrp="1"/>
          </p:cNvSpPr>
          <p:nvPr>
            <p:ph type="body" idx="2"/>
          </p:nvPr>
        </p:nvSpPr>
        <p:spPr>
          <a:xfrm>
            <a:off x="762000" y="4064000"/>
            <a:ext cx="7620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Author</a:t>
            </a:r>
          </a:p>
        </p:txBody>
      </p:sp>
      <p:sp>
        <p:nvSpPr>
          <p:cNvPr id="136" name="Source"/>
          <p:cNvSpPr>
            <a:spLocks noGrp="1"/>
          </p:cNvSpPr>
          <p:nvPr>
            <p:ph type="body" idx="3"/>
          </p:nvPr>
        </p:nvSpPr>
        <p:spPr>
          <a:xfrm>
            <a:off x="762000" y="4470400"/>
            <a:ext cx="7620000" cy="298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Where it was said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Diagram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Heading"/>
          <p:cNvSpPr>
            <a:spLocks noGrp="1"/>
          </p:cNvSpPr>
          <p:nvPr>
            <p:ph type="title"/>
          </p:nvPr>
        </p:nvSpPr>
        <p:spPr>
          <a:xfrm>
            <a:off x="762000" y="609600"/>
            <a:ext cx="106680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4400"/>
              </a:lnSpc>
              <a:spcBef>
                <a:spcPts val="0"/>
              </a:spcBef>
              <a:buNone/>
              <a:defRPr sz="40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EVENT_LINE"/>
          <p:cNvSpPr txBox="1"/>
          <p:nvPr/>
        </p:nvSpPr>
        <p:spPr>
          <a:xfrm>
            <a:off x="762000" y="1270000"/>
            <a:ext cx="635000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Devcon 8 · Builder Enablement &amp; BuidlGuidl</a:t>
            </a:r>
          </a:p>
        </p:txBody>
      </p:sp>
      <p:sp>
        <p:nvSpPr>
          <p:cNvPr id="139" name="Thanks"/>
          <p:cNvSpPr>
            <a:spLocks noGrp="1"/>
          </p:cNvSpPr>
          <p:nvPr>
            <p:ph type="title"/>
          </p:nvPr>
        </p:nvSpPr>
        <p:spPr>
          <a:xfrm>
            <a:off x="762000" y="1778000"/>
            <a:ext cx="5334000" cy="698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5050"/>
              </a:lnSpc>
              <a:spcBef>
                <a:spcPts val="0"/>
              </a:spcBef>
              <a:buNone/>
              <a:defRPr sz="48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Thanks</a:t>
            </a:r>
          </a:p>
        </p:txBody>
      </p:sp>
      <p:sp>
        <p:nvSpPr>
          <p:cNvPr id="140" name="Speaker name"/>
          <p:cNvSpPr>
            <a:spLocks noGrp="1"/>
          </p:cNvSpPr>
          <p:nvPr>
            <p:ph type="body" idx="1"/>
          </p:nvPr>
        </p:nvSpPr>
        <p:spPr>
          <a:xfrm>
            <a:off x="762000" y="2794000"/>
            <a:ext cx="5588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141" name="Handles"/>
          <p:cNvSpPr>
            <a:spLocks noGrp="1"/>
          </p:cNvSpPr>
          <p:nvPr>
            <p:ph type="body" idx="2"/>
          </p:nvPr>
        </p:nvSpPr>
        <p:spPr>
          <a:xfrm>
            <a:off x="762000" y="3200400"/>
            <a:ext cx="5588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@handle on X and GitHub</a:t>
            </a:r>
          </a:p>
        </p:txBody>
      </p:sp>
      <p:sp>
        <p:nvSpPr>
          <p:cNvPr id="142" name="Link"/>
          <p:cNvSpPr>
            <a:spLocks noGrp="1"/>
          </p:cNvSpPr>
          <p:nvPr>
            <p:ph type="body" idx="3"/>
          </p:nvPr>
        </p:nvSpPr>
        <p:spPr>
          <a:xfrm>
            <a:off x="762000" y="3708400"/>
            <a:ext cx="5588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one-link.com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Up nex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Up next"/>
          <p:cNvSpPr txBox="1"/>
          <p:nvPr/>
        </p:nvSpPr>
        <p:spPr>
          <a:xfrm>
            <a:off x="762000" y="1270000"/>
            <a:ext cx="6350000" cy="298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2350"/>
              </a:lnSpc>
              <a:spcBef>
                <a:spcPts val="0"/>
              </a:spcBef>
              <a:buNone/>
              <a:def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Up next</a:t>
            </a:r>
          </a:p>
        </p:txBody>
      </p:sp>
      <p:sp>
        <p:nvSpPr>
          <p:cNvPr id="144" name="Talk title"/>
          <p:cNvSpPr>
            <a:spLocks noGrp="1"/>
          </p:cNvSpPr>
          <p:nvPr>
            <p:ph type="title"/>
          </p:nvPr>
        </p:nvSpPr>
        <p:spPr>
          <a:xfrm>
            <a:off x="762000" y="1778000"/>
            <a:ext cx="5334000" cy="1968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5050"/>
              </a:lnSpc>
              <a:spcBef>
                <a:spcPts val="0"/>
              </a:spcBef>
              <a:buNone/>
              <a:defRPr sz="4800" b="0">
                <a:solidFill>
                  <a:srgbClr val="182232"/>
                </a:solidFill>
                <a:latin typeface="PP Neue Machina Inktrap Smbold"/>
                <a:ea typeface="PP Neue Machina Inktrap Smbold"/>
                <a:cs typeface="PP Neue Machina Inktrap Smbold"/>
              </a:defRPr>
            </a:lvl1pPr>
          </a:lstStyle>
          <a:p>
            <a:r>
              <a:rPr lang="en-US"/>
              <a:t>Talk title</a:t>
            </a:r>
          </a:p>
        </p:txBody>
      </p:sp>
      <p:sp>
        <p:nvSpPr>
          <p:cNvPr id="145" name="Speaker"/>
          <p:cNvSpPr>
            <a:spLocks noGrp="1"/>
          </p:cNvSpPr>
          <p:nvPr>
            <p:ph type="body" idx="1"/>
          </p:nvPr>
        </p:nvSpPr>
        <p:spPr>
          <a:xfrm>
            <a:off x="762000" y="3962400"/>
            <a:ext cx="5715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Speaker, affiliation</a:t>
            </a:r>
          </a:p>
        </p:txBody>
      </p:sp>
      <p:sp>
        <p:nvSpPr>
          <p:cNvPr id="146" name="Time and room"/>
          <p:cNvSpPr>
            <a:spLocks noGrp="1"/>
          </p:cNvSpPr>
          <p:nvPr>
            <p:ph type="body" idx="2"/>
          </p:nvPr>
        </p:nvSpPr>
        <p:spPr>
          <a:xfrm>
            <a:off x="762000" y="4368800"/>
            <a:ext cx="5715000" cy="393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ts val="3100"/>
              </a:lnSpc>
              <a:spcBef>
                <a:spcPts val="0"/>
              </a:spcBef>
              <a:buNone/>
              <a:defRPr sz="24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defRPr>
            </a:lvl1pPr>
          </a:lstStyle>
          <a:p>
            <a:r>
              <a:rPr lang="en-US"/>
              <a:t>13:15 · Room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on Ethereum with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Shiv Bhonde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BuidlGuidl · @shivbhonde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Highlight"/>
          <p:cNvSpPr/>
          <p:nvPr/>
        </p:nvSpPr>
        <p:spPr>
          <a:xfrm>
            <a:off x="3117850" y="2724150"/>
            <a:ext cx="4806950" cy="768350"/>
          </a:xfrm>
          <a:prstGeom prst="roundRect">
            <a:avLst>
              <a:gd name="adj" fmla="val 14049"/>
            </a:avLst>
          </a:prstGeom>
          <a:solidFill>
            <a:srgbClr val="B5D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 agent can scaffold a dapp. Shipping it is still your job.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What that looks like with Scaffold-ETH 2, step by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agent gets for free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contract, a deploy script and a frontend in one repo</a:t>
            </a:r>
          </a:p>
          <a:p>
            <a:r>
              <a:t>Typed hooks for every deployed contract</a:t>
            </a:r>
          </a:p>
          <a:p>
            <a:r>
              <a:t>A local chain, a burner wallet and a faucet</a:t>
            </a:r>
          </a:p>
          <a:p>
            <a:r>
              <a:t>A debug page that lists every function it can call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debug page is the agent's first UI</a:t>
            </a:r>
          </a:p>
        </p:txBody>
      </p:sp>
      <p:pic>
        <p:nvPicPr>
          <p:cNvPr id="3" name="Picture 2" descr="se2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1485900"/>
            <a:ext cx="6515100" cy="4749800"/>
          </a:xfrm>
          <a:prstGeom prst="roundRect">
            <a:avLst>
              <a:gd name="adj" fmla="val 1604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places to start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SpeedRun Ethereum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Seven challenges, from a simple NFT to a DEX.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Scaffold-ETH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The toolkit for a real dapp, one command 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BuidlGuidl batches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Build with a cohort and ship a project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Give the agent a contract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command, one repo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terminal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>
                <a:solidFill>
                  <a:srgbClr val="9FA9FF"/>
                </a:solidFill>
              </a:rPr>
              <a:t>$</a:t>
            </a:r>
            <a:r>
              <a:t> npx create-eth@latest</a:t>
            </a:r>
          </a:p>
          <a:p>
            <a:r>
              <a:rPr>
                <a:solidFill>
                  <a:srgbClr val="9FA9FF"/>
                </a:solidFill>
              </a:rPr>
              <a:t>?</a:t>
            </a:r>
            <a:r>
              <a:t> Your project name: my-dapp</a:t>
            </a:r>
          </a:p>
          <a:p>
            <a:r>
              <a:rPr>
                <a:solidFill>
                  <a:srgbClr val="9FA9FF"/>
                </a:solidFill>
              </a:rPr>
              <a:t>?</a:t>
            </a:r>
            <a:r>
              <a:t> Solidity framework: hardhat</a:t>
            </a:r>
          </a:p>
          <a:p>
            <a:r>
              <a:rPr>
                <a:solidFill>
                  <a:srgbClr val="9FA9FF"/>
                </a:solidFill>
              </a:rPr>
              <a:t>?</a:t>
            </a:r>
            <a:r>
              <a:t> Install packages: yes</a:t>
            </a:r>
          </a:p>
          <a:p/>
          <a:p>
            <a:r>
              <a:rPr>
                <a:solidFill>
                  <a:srgbClr val="9FA9FF"/>
                </a:solidFill>
              </a:rPr>
              <a:t>$</a:t>
            </a:r>
            <a:r>
              <a:t> cd my-dapp</a:t>
            </a:r>
          </a:p>
          <a:p>
            <a:r>
              <a:rPr>
                <a:solidFill>
                  <a:srgbClr val="9FA9FF"/>
                </a:solidFill>
              </a:rPr>
              <a:t>$</a:t>
            </a:r>
            <a:r>
              <a:t> yarn chain</a:t>
            </a:r>
          </a:p>
          <a:p>
            <a:r>
              <a:rPr>
                <a:solidFill>
                  <a:srgbClr val="9FA9FF"/>
                </a:solidFill>
              </a:rPr>
              <a:t>$</a:t>
            </a:r>
            <a:r>
              <a:t> yarn deploy</a:t>
            </a:r>
          </a:p>
          <a:p>
            <a:r>
              <a:rPr>
                <a:solidFill>
                  <a:srgbClr val="9FA9FF"/>
                </a:solidFill>
              </a:rPr>
              <a:t>$</a:t>
            </a:r>
            <a:r>
              <a:t> yarn 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“Everything you need to build on Ethereum.”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Scaffold-ETH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scaffoldeth.io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contract to UI in Scaffold-ETH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2540000"/>
            <a:ext cx="3302000" cy="1651000"/>
          </a:xfrm>
          <a:prstGeom prst="roundRect">
            <a:avLst>
              <a:gd name="adj" fmla="val 12307"/>
            </a:avLst>
          </a:prstGeom>
          <a:solidFill>
            <a:srgbClr val="D8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254000" bIns="254000" wrap="square"/>
          <a:lstStyle/>
          <a:p>
            <a:pPr algn="l">
              <a:lnSpc>
                <a:spcPts val="3100"/>
              </a:lnSpc>
            </a:pPr>
            <a:r>
              <a: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rPr>
              <a:t>Write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942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50"/>
              </a:lnSpc>
            </a:pPr>
            <a:r>
              <a:rPr sz="1800" b="0">
                <a:solidFill>
                  <a:srgbClr val="182232"/>
                </a:solidFill>
                <a:latin typeface="Space Grotesk"/>
                <a:ea typeface="Space Grotesk"/>
                <a:cs typeface="Space Grotesk"/>
              </a:rPr>
              <a:t>Solidity, with Hardhat or Foundry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89400" y="3365500"/>
            <a:ext cx="317500" cy="0"/>
          </a:xfrm>
          <a:prstGeom prst="line">
            <a:avLst/>
          </a:prstGeom>
          <a:ln w="25400">
            <a:solidFill>
              <a:srgbClr val="18223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45000" y="2540000"/>
            <a:ext cx="3302000" cy="1651000"/>
          </a:xfrm>
          <a:prstGeom prst="roundRect">
            <a:avLst>
              <a:gd name="adj" fmla="val 12307"/>
            </a:avLst>
          </a:prstGeom>
          <a:solidFill>
            <a:srgbClr val="FFD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254000" bIns="254000" wrap="square"/>
          <a:lstStyle/>
          <a:p>
            <a:pPr algn="l">
              <a:lnSpc>
                <a:spcPts val="3100"/>
              </a:lnSpc>
            </a:pPr>
            <a:r>
              <a: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rPr>
              <a:t>Deploy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0" y="43942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50"/>
              </a:lnSpc>
            </a:pPr>
            <a:r>
              <a:rPr sz="1800" b="0">
                <a:solidFill>
                  <a:srgbClr val="182232"/>
                </a:solidFill>
                <a:latin typeface="Space Mono"/>
                <a:ea typeface="Space Mono"/>
                <a:cs typeface="Space Mono"/>
              </a:rPr>
              <a:t>yarn deploy writes deployedContracts.ts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0" y="3365500"/>
            <a:ext cx="317500" cy="0"/>
          </a:xfrm>
          <a:prstGeom prst="line">
            <a:avLst/>
          </a:prstGeom>
          <a:ln w="25400">
            <a:solidFill>
              <a:srgbClr val="18223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28000" y="2540000"/>
            <a:ext cx="3302000" cy="1651000"/>
          </a:xfrm>
          <a:prstGeom prst="roundRect">
            <a:avLst>
              <a:gd name="adj" fmla="val 12307"/>
            </a:avLst>
          </a:prstGeom>
          <a:solidFill>
            <a:srgbClr val="EAF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254000" bIns="254000" wrap="square"/>
          <a:lstStyle/>
          <a:p>
            <a:pPr algn="l">
              <a:lnSpc>
                <a:spcPts val="3100"/>
              </a:lnSpc>
            </a:pPr>
            <a:r>
              <a:rPr sz="2400" b="1">
                <a:solidFill>
                  <a:srgbClr val="182232"/>
                </a:solidFill>
                <a:latin typeface="Space Grotesk"/>
                <a:ea typeface="Space Grotesk"/>
                <a:cs typeface="Space Grotesk"/>
              </a:rPr>
              <a:t>Read and write from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3942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350"/>
              </a:lnSpc>
            </a:pPr>
            <a:r>
              <a:rPr sz="1800" b="0">
                <a:solidFill>
                  <a:srgbClr val="182232"/>
                </a:solidFill>
                <a:latin typeface="Space Mono"/>
                <a:ea typeface="Space Mono"/>
                <a:cs typeface="Space Mono"/>
              </a:rPr>
              <a:t>useScaffoldReadContract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Highlight"/>
          <p:cNvSpPr/>
          <p:nvPr/>
        </p:nvSpPr>
        <p:spPr>
          <a:xfrm>
            <a:off x="736600" y="3702050"/>
            <a:ext cx="2260600" cy="400050"/>
          </a:xfrm>
          <a:prstGeom prst="roundRect">
            <a:avLst>
              <a:gd name="adj" fmla="val 11111"/>
            </a:avLst>
          </a:prstGeom>
          <a:solidFill>
            <a:srgbClr val="B5D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Shiv Bhonde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@shivbhonde on X and GitHub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buidlguidl.com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on Ethereum with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Shiv Bhonde, BuidlGuidl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13:15 · Workshop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82232"/>
      </a:dk1>
      <a:lt1>
        <a:srgbClr val="FFFCFC"/>
      </a:lt1>
      <a:dk2>
        <a:srgbClr val="182232"/>
      </a:dk2>
      <a:lt2>
        <a:srgbClr val="F4F4F4"/>
      </a:lt2>
      <a:accent1>
        <a:srgbClr val="808CFF"/>
      </a:accent1>
      <a:accent2>
        <a:srgbClr val="FF6E1D"/>
      </a:accent2>
      <a:accent3>
        <a:srgbClr val="B5DC3A"/>
      </a:accent3>
      <a:accent4>
        <a:srgbClr val="D8DCFF"/>
      </a:accent4>
      <a:accent5>
        <a:srgbClr val="FFD4B5"/>
      </a:accent5>
      <a:accent6>
        <a:srgbClr val="9FA9FF"/>
      </a:accent6>
      <a:hlink>
        <a:srgbClr val="0000FF"/>
      </a:hlink>
      <a:folHlink>
        <a:srgbClr val="800080"/>
      </a:folHlink>
    </a:clrScheme>
    <a:fontScheme name="Office">
      <a:majorFont>
        <a:latin typeface="PP Neue Machina Inktrap Sm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ace Grotes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