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EVENT_LINE"/>
          <p:cNvSpPr txBox="1"/>
          <p:nvPr/>
        </p:nvSpPr>
        <p:spPr>
          <a:xfrm>
            <a:off x="3429000" y="495300"/>
            <a:ext cx="5143500" cy="22383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r">
              <a:lnSpc>
                <a:spcPts val="1762"/>
              </a:lnSpc>
              <a:spcBef>
                <a:spcPts val="0"/>
              </a:spcBef>
              <a:buNone/>
              <a:defRPr sz="1350" b="0">
                <a:solidFill>
                  <a:srgbClr val="182232"/>
                </a:solidFill>
                <a:latin typeface="Space Mono"/>
                <a:ea typeface="Space Mono"/>
                <a:cs typeface="Space Mono"/>
              </a:defRPr>
            </a:lvl1pPr>
          </a:lstStyle>
          <a:p>
            <a:r>
              <a:rPr lang="en-US"/>
              <a:t>Devcon 8 · Builder Enablement &amp; BuidlGuidl</a:t>
            </a:r>
          </a:p>
        </p:txBody>
      </p:sp>
      <p:sp>
        <p:nvSpPr>
          <p:cNvPr id="102" name="Talk title"/>
          <p:cNvSpPr>
            <a:spLocks noGrp="1"/>
          </p:cNvSpPr>
          <p:nvPr>
            <p:ph type="title"/>
          </p:nvPr>
        </p:nvSpPr>
        <p:spPr>
          <a:xfrm>
            <a:off x="571500" y="895350"/>
            <a:ext cx="4000500" cy="1924050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>
            <a:lvl1pPr marL="0" indent="0" algn="l">
              <a:lnSpc>
                <a:spcPts val="3788"/>
              </a:lnSpc>
              <a:spcBef>
                <a:spcPts val="0"/>
              </a:spcBef>
              <a:buNone/>
              <a:defRPr sz="36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Talk title</a:t>
            </a:r>
          </a:p>
        </p:txBody>
      </p:sp>
      <p:sp>
        <p:nvSpPr>
          <p:cNvPr id="103" name="Speaker name"/>
          <p:cNvSpPr>
            <a:spLocks noGrp="1"/>
          </p:cNvSpPr>
          <p:nvPr>
            <p:ph type="body" idx="1"/>
          </p:nvPr>
        </p:nvSpPr>
        <p:spPr>
          <a:xfrm>
            <a:off x="571500" y="3086100"/>
            <a:ext cx="4000500" cy="295275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2325"/>
              </a:lnSpc>
              <a:spcBef>
                <a:spcPts val="0"/>
              </a:spcBef>
              <a:buNone/>
              <a:defRPr sz="18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04" name="Handle"/>
          <p:cNvSpPr>
            <a:spLocks noGrp="1"/>
          </p:cNvSpPr>
          <p:nvPr>
            <p:ph type="body" idx="2"/>
          </p:nvPr>
        </p:nvSpPr>
        <p:spPr>
          <a:xfrm>
            <a:off x="571500" y="3390900"/>
            <a:ext cx="4000500" cy="223838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1762"/>
              </a:lnSpc>
              <a:spcBef>
                <a:spcPts val="0"/>
              </a:spcBef>
              <a:buNone/>
              <a:defRPr sz="1350" b="0">
                <a:solidFill>
                  <a:srgbClr val="182232"/>
                </a:solidFill>
                <a:latin typeface="Space Mono"/>
                <a:ea typeface="Space Mono"/>
                <a:cs typeface="Space Mono"/>
              </a:defRPr>
            </a:lvl1pPr>
          </a:lstStyle>
          <a:p>
            <a:r>
              <a:rPr lang="en-US"/>
              <a:t>@handle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tatement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Statement"/>
          <p:cNvSpPr>
            <a:spLocks noGrp="1"/>
          </p:cNvSpPr>
          <p:nvPr>
            <p:ph type="body" idx="1"/>
          </p:nvPr>
        </p:nvSpPr>
        <p:spPr>
          <a:xfrm>
            <a:off x="571500" y="1428750"/>
            <a:ext cx="8001000" cy="19050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4725"/>
              </a:lnSpc>
              <a:spcBef>
                <a:spcPts val="0"/>
              </a:spcBef>
              <a:buNone/>
              <a:defRPr sz="45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One big line, one highlighted phrase</a:t>
            </a:r>
          </a:p>
        </p:txBody>
      </p:sp>
      <p:sp>
        <p:nvSpPr>
          <p:cNvPr id="106" name="Sub-line"/>
          <p:cNvSpPr>
            <a:spLocks noGrp="1"/>
          </p:cNvSpPr>
          <p:nvPr>
            <p:ph type="body" idx="2"/>
          </p:nvPr>
        </p:nvSpPr>
        <p:spPr>
          <a:xfrm>
            <a:off x="571500" y="3619500"/>
            <a:ext cx="8001000" cy="295275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2325"/>
              </a:lnSpc>
              <a:spcBef>
                <a:spcPts val="0"/>
              </a:spcBef>
              <a:buNone/>
              <a:defRPr sz="180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Optional sub-line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Heading + body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Heading"/>
          <p:cNvSpPr>
            <a:spLocks noGrp="1"/>
          </p:cNvSpPr>
          <p:nvPr>
            <p:ph type="title"/>
          </p:nvPr>
        </p:nvSpPr>
        <p:spPr>
          <a:xfrm>
            <a:off x="571500" y="571500"/>
            <a:ext cx="8001000" cy="8382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3300"/>
              </a:lnSpc>
              <a:spcBef>
                <a:spcPts val="0"/>
              </a:spcBef>
              <a:buNone/>
              <a:defRPr sz="30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08" name="Body"/>
          <p:cNvSpPr>
            <a:spLocks noGrp="1"/>
          </p:cNvSpPr>
          <p:nvPr>
            <p:ph type="body" idx="1"/>
          </p:nvPr>
        </p:nvSpPr>
        <p:spPr>
          <a:xfrm>
            <a:off x="571500" y="1524000"/>
            <a:ext cx="8001000" cy="31623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304800" indent="-304800" algn="l">
              <a:lnSpc>
                <a:spcPts val="2325"/>
              </a:lnSpc>
              <a:spcBef>
                <a:spcPts val="1200"/>
              </a:spcBef>
              <a:buClr>
                <a:srgbClr val="808CFF"/>
              </a:buClr>
              <a:buSzPct val="80000"/>
              <a:buFont typeface="Arial"/>
              <a:buChar char="●"/>
              <a:defRPr sz="180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Short lines, at most four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Heading + image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Heading"/>
          <p:cNvSpPr>
            <a:spLocks noGrp="1"/>
          </p:cNvSpPr>
          <p:nvPr>
            <p:ph type="title"/>
          </p:nvPr>
        </p:nvSpPr>
        <p:spPr>
          <a:xfrm>
            <a:off x="571500" y="571500"/>
            <a:ext cx="8001000" cy="4572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3300"/>
              </a:lnSpc>
              <a:spcBef>
                <a:spcPts val="0"/>
              </a:spcBef>
              <a:buNone/>
              <a:defRPr sz="30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10" name="Image panel"/>
          <p:cNvSpPr/>
          <p:nvPr/>
        </p:nvSpPr>
        <p:spPr>
          <a:xfrm>
            <a:off x="571500" y="1219200"/>
            <a:ext cx="8001000" cy="3467100"/>
          </a:xfrm>
          <a:prstGeom prst="roundRect">
            <a:avLst>
              <a:gd name="adj" fmla="val 2198"/>
            </a:avLst>
          </a:prstGeom>
          <a:solidFill>
            <a:srgbClr val="D8D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11" name="Image"/>
          <p:cNvSpPr>
            <a:spLocks noGrp="1"/>
          </p:cNvSpPr>
          <p:nvPr>
            <p:ph type="pic" idx="1"/>
          </p:nvPr>
        </p:nvSpPr>
        <p:spPr>
          <a:xfrm>
            <a:off x="762000" y="1409700"/>
            <a:ext cx="7620000" cy="3086100"/>
          </a:xfrm>
          <a:prstGeom prst="rect">
            <a:avLst/>
          </a:prstGeom>
        </p:spPr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hree columns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Heading"/>
          <p:cNvSpPr>
            <a:spLocks noGrp="1"/>
          </p:cNvSpPr>
          <p:nvPr>
            <p:ph type="title"/>
          </p:nvPr>
        </p:nvSpPr>
        <p:spPr>
          <a:xfrm>
            <a:off x="571500" y="571500"/>
            <a:ext cx="8001000" cy="4572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3300"/>
              </a:lnSpc>
              <a:spcBef>
                <a:spcPts val="0"/>
              </a:spcBef>
              <a:buNone/>
              <a:defRPr sz="30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13" name="Card 1"/>
          <p:cNvSpPr/>
          <p:nvPr/>
        </p:nvSpPr>
        <p:spPr>
          <a:xfrm>
            <a:off x="571500" y="1238250"/>
            <a:ext cx="2514600" cy="2476500"/>
          </a:xfrm>
          <a:prstGeom prst="roundRect">
            <a:avLst>
              <a:gd name="adj" fmla="val 3077"/>
            </a:avLst>
          </a:prstGeom>
          <a:solidFill>
            <a:srgbClr val="FFFCF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4" name="Pill 1"/>
          <p:cNvSpPr/>
          <p:nvPr/>
        </p:nvSpPr>
        <p:spPr>
          <a:xfrm>
            <a:off x="800100" y="1466850"/>
            <a:ext cx="457200" cy="304800"/>
          </a:xfrm>
          <a:prstGeom prst="roundRect">
            <a:avLst>
              <a:gd name="adj" fmla="val 25000"/>
            </a:avLst>
          </a:prstGeom>
          <a:solidFill>
            <a:srgbClr val="808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15" name="Pill number 1"/>
          <p:cNvSpPr txBox="1"/>
          <p:nvPr/>
        </p:nvSpPr>
        <p:spPr>
          <a:xfrm>
            <a:off x="800100" y="1533525"/>
            <a:ext cx="4572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ctr">
              <a:lnSpc>
                <a:spcPts val="1762"/>
              </a:lnSpc>
              <a:spcBef>
                <a:spcPts val="0"/>
              </a:spcBef>
              <a:buNone/>
              <a:defRPr sz="135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01</a:t>
            </a:r>
          </a:p>
        </p:txBody>
      </p:sp>
      <p:sp>
        <p:nvSpPr>
          <p:cNvPr id="116" name="Column 1 title"/>
          <p:cNvSpPr>
            <a:spLocks noGrp="1"/>
          </p:cNvSpPr>
          <p:nvPr>
            <p:ph type="body" idx="1"/>
          </p:nvPr>
        </p:nvSpPr>
        <p:spPr>
          <a:xfrm>
            <a:off x="800100" y="1924050"/>
            <a:ext cx="2057400" cy="5715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2325"/>
              </a:lnSpc>
              <a:spcBef>
                <a:spcPts val="0"/>
              </a:spcBef>
              <a:buNone/>
              <a:defRPr sz="18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Column title</a:t>
            </a:r>
          </a:p>
        </p:txBody>
      </p:sp>
      <p:sp>
        <p:nvSpPr>
          <p:cNvPr id="117" name="Column 1 text"/>
          <p:cNvSpPr>
            <a:spLocks noGrp="1"/>
          </p:cNvSpPr>
          <p:nvPr>
            <p:ph type="body" idx="2"/>
          </p:nvPr>
        </p:nvSpPr>
        <p:spPr>
          <a:xfrm>
            <a:off x="800100" y="2590800"/>
            <a:ext cx="2057400" cy="9525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2325"/>
              </a:lnSpc>
              <a:spcBef>
                <a:spcPts val="0"/>
              </a:spcBef>
              <a:buNone/>
              <a:defRPr sz="180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One or two short lines</a:t>
            </a:r>
          </a:p>
        </p:txBody>
      </p:sp>
      <p:sp>
        <p:nvSpPr>
          <p:cNvPr id="118" name="Card 2"/>
          <p:cNvSpPr/>
          <p:nvPr/>
        </p:nvSpPr>
        <p:spPr>
          <a:xfrm>
            <a:off x="3314700" y="1238250"/>
            <a:ext cx="2514600" cy="2476500"/>
          </a:xfrm>
          <a:prstGeom prst="roundRect">
            <a:avLst>
              <a:gd name="adj" fmla="val 3077"/>
            </a:avLst>
          </a:prstGeom>
          <a:solidFill>
            <a:srgbClr val="FFFCFC"/>
          </a:solidFill>
          <a:ln>
            <a:noFill/>
          </a:ln>
        </p:spPr>
        <p:txBody>
          <a:bodyPr/>
          <a:lstStyle/>
          <a:p/>
        </p:txBody>
      </p:sp>
      <p:sp>
        <p:nvSpPr>
          <p:cNvPr id="119" name="Pill 2"/>
          <p:cNvSpPr/>
          <p:nvPr/>
        </p:nvSpPr>
        <p:spPr>
          <a:xfrm>
            <a:off x="3543300" y="1466850"/>
            <a:ext cx="457200" cy="304800"/>
          </a:xfrm>
          <a:prstGeom prst="roundRect">
            <a:avLst>
              <a:gd name="adj" fmla="val 25000"/>
            </a:avLst>
          </a:prstGeom>
          <a:solidFill>
            <a:srgbClr val="FF6E1D"/>
          </a:solidFill>
          <a:ln>
            <a:noFill/>
          </a:ln>
        </p:spPr>
        <p:txBody>
          <a:bodyPr/>
          <a:lstStyle/>
          <a:p/>
        </p:txBody>
      </p:sp>
      <p:sp>
        <p:nvSpPr>
          <p:cNvPr id="120" name="Pill number 2"/>
          <p:cNvSpPr txBox="1"/>
          <p:nvPr/>
        </p:nvSpPr>
        <p:spPr>
          <a:xfrm>
            <a:off x="3543300" y="1533525"/>
            <a:ext cx="4572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ctr">
              <a:lnSpc>
                <a:spcPts val="1762"/>
              </a:lnSpc>
              <a:spcBef>
                <a:spcPts val="0"/>
              </a:spcBef>
              <a:buNone/>
              <a:defRPr sz="135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02</a:t>
            </a:r>
          </a:p>
        </p:txBody>
      </p:sp>
      <p:sp>
        <p:nvSpPr>
          <p:cNvPr id="121" name="Column 2 title"/>
          <p:cNvSpPr>
            <a:spLocks noGrp="1"/>
          </p:cNvSpPr>
          <p:nvPr>
            <p:ph type="body" idx="3"/>
          </p:nvPr>
        </p:nvSpPr>
        <p:spPr>
          <a:xfrm>
            <a:off x="3543300" y="1924050"/>
            <a:ext cx="2057400" cy="5715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2325"/>
              </a:lnSpc>
              <a:spcBef>
                <a:spcPts val="0"/>
              </a:spcBef>
              <a:buNone/>
              <a:defRPr sz="18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Column title</a:t>
            </a:r>
          </a:p>
        </p:txBody>
      </p:sp>
      <p:sp>
        <p:nvSpPr>
          <p:cNvPr id="122" name="Column 2 text"/>
          <p:cNvSpPr>
            <a:spLocks noGrp="1"/>
          </p:cNvSpPr>
          <p:nvPr>
            <p:ph type="body" idx="4"/>
          </p:nvPr>
        </p:nvSpPr>
        <p:spPr>
          <a:xfrm>
            <a:off x="3543300" y="2590800"/>
            <a:ext cx="2057400" cy="9525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2325"/>
              </a:lnSpc>
              <a:spcBef>
                <a:spcPts val="0"/>
              </a:spcBef>
              <a:buNone/>
              <a:defRPr sz="180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One or two short lines</a:t>
            </a:r>
          </a:p>
        </p:txBody>
      </p:sp>
      <p:sp>
        <p:nvSpPr>
          <p:cNvPr id="123" name="Card 3"/>
          <p:cNvSpPr/>
          <p:nvPr/>
        </p:nvSpPr>
        <p:spPr>
          <a:xfrm>
            <a:off x="6057900" y="1238250"/>
            <a:ext cx="2514600" cy="2476500"/>
          </a:xfrm>
          <a:prstGeom prst="roundRect">
            <a:avLst>
              <a:gd name="adj" fmla="val 3077"/>
            </a:avLst>
          </a:prstGeom>
          <a:solidFill>
            <a:srgbClr val="FFFCFC"/>
          </a:solidFill>
          <a:ln>
            <a:noFill/>
          </a:ln>
        </p:spPr>
        <p:txBody>
          <a:bodyPr/>
          <a:lstStyle/>
          <a:p/>
        </p:txBody>
      </p:sp>
      <p:sp>
        <p:nvSpPr>
          <p:cNvPr id="124" name="Pill 3"/>
          <p:cNvSpPr/>
          <p:nvPr/>
        </p:nvSpPr>
        <p:spPr>
          <a:xfrm>
            <a:off x="6286500" y="1466850"/>
            <a:ext cx="457200" cy="304800"/>
          </a:xfrm>
          <a:prstGeom prst="roundRect">
            <a:avLst>
              <a:gd name="adj" fmla="val 25000"/>
            </a:avLst>
          </a:prstGeom>
          <a:solidFill>
            <a:srgbClr val="B5DC3A"/>
          </a:solidFill>
          <a:ln>
            <a:noFill/>
          </a:ln>
        </p:spPr>
        <p:txBody>
          <a:bodyPr/>
          <a:lstStyle/>
          <a:p/>
        </p:txBody>
      </p:sp>
      <p:sp>
        <p:nvSpPr>
          <p:cNvPr id="125" name="Pill number 3"/>
          <p:cNvSpPr txBox="1"/>
          <p:nvPr/>
        </p:nvSpPr>
        <p:spPr>
          <a:xfrm>
            <a:off x="6286500" y="1533525"/>
            <a:ext cx="4572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ctr">
              <a:lnSpc>
                <a:spcPts val="1762"/>
              </a:lnSpc>
              <a:spcBef>
                <a:spcPts val="0"/>
              </a:spcBef>
              <a:buNone/>
              <a:defRPr sz="135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03</a:t>
            </a:r>
          </a:p>
        </p:txBody>
      </p:sp>
      <p:sp>
        <p:nvSpPr>
          <p:cNvPr id="126" name="Column 3 title"/>
          <p:cNvSpPr>
            <a:spLocks noGrp="1"/>
          </p:cNvSpPr>
          <p:nvPr>
            <p:ph type="body" idx="5"/>
          </p:nvPr>
        </p:nvSpPr>
        <p:spPr>
          <a:xfrm>
            <a:off x="6286500" y="1924050"/>
            <a:ext cx="2057400" cy="5715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2325"/>
              </a:lnSpc>
              <a:spcBef>
                <a:spcPts val="0"/>
              </a:spcBef>
              <a:buNone/>
              <a:defRPr sz="18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Column title</a:t>
            </a:r>
          </a:p>
        </p:txBody>
      </p:sp>
      <p:sp>
        <p:nvSpPr>
          <p:cNvPr id="127" name="Column 3 text"/>
          <p:cNvSpPr>
            <a:spLocks noGrp="1"/>
          </p:cNvSpPr>
          <p:nvPr>
            <p:ph type="body" idx="6"/>
          </p:nvPr>
        </p:nvSpPr>
        <p:spPr>
          <a:xfrm>
            <a:off x="6286500" y="2590800"/>
            <a:ext cx="2057400" cy="9525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2325"/>
              </a:lnSpc>
              <a:spcBef>
                <a:spcPts val="0"/>
              </a:spcBef>
              <a:buNone/>
              <a:defRPr sz="180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One or two short lines</a:t>
            </a: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art number"/>
          <p:cNvSpPr>
            <a:spLocks noGrp="1"/>
          </p:cNvSpPr>
          <p:nvPr>
            <p:ph type="body" idx="1"/>
          </p:nvPr>
        </p:nvSpPr>
        <p:spPr>
          <a:xfrm>
            <a:off x="571500" y="1866900"/>
            <a:ext cx="4762500" cy="223838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1762"/>
              </a:lnSpc>
              <a:spcBef>
                <a:spcPts val="0"/>
              </a:spcBef>
              <a:buNone/>
              <a:defRPr sz="135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Part 1</a:t>
            </a:r>
          </a:p>
        </p:txBody>
      </p:sp>
      <p:sp>
        <p:nvSpPr>
          <p:cNvPr id="129" name="Part title"/>
          <p:cNvSpPr>
            <a:spLocks noGrp="1"/>
          </p:cNvSpPr>
          <p:nvPr>
            <p:ph type="title"/>
          </p:nvPr>
        </p:nvSpPr>
        <p:spPr>
          <a:xfrm>
            <a:off x="571500" y="2171700"/>
            <a:ext cx="4762500" cy="18097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4725"/>
              </a:lnSpc>
              <a:spcBef>
                <a:spcPts val="0"/>
              </a:spcBef>
              <a:buNone/>
              <a:defRPr sz="45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Part title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de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Heading"/>
          <p:cNvSpPr>
            <a:spLocks noGrp="1"/>
          </p:cNvSpPr>
          <p:nvPr>
            <p:ph type="title"/>
          </p:nvPr>
        </p:nvSpPr>
        <p:spPr>
          <a:xfrm>
            <a:off x="571500" y="571500"/>
            <a:ext cx="8001000" cy="4572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3300"/>
              </a:lnSpc>
              <a:spcBef>
                <a:spcPts val="0"/>
              </a:spcBef>
              <a:buNone/>
              <a:defRPr sz="3000" b="1">
                <a:solidFill>
                  <a:srgbClr val="FFFCFC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1" name="Code label"/>
          <p:cNvSpPr>
            <a:spLocks noGrp="1"/>
          </p:cNvSpPr>
          <p:nvPr>
            <p:ph type="body" idx="1"/>
          </p:nvPr>
        </p:nvSpPr>
        <p:spPr>
          <a:xfrm>
            <a:off x="571500" y="1219200"/>
            <a:ext cx="8001000" cy="223838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1762"/>
              </a:lnSpc>
              <a:spcBef>
                <a:spcPts val="0"/>
              </a:spcBef>
              <a:buNone/>
              <a:defRPr sz="1350" b="0">
                <a:solidFill>
                  <a:srgbClr val="9FA9FF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terminal</a:t>
            </a:r>
          </a:p>
        </p:txBody>
      </p:sp>
      <p:sp>
        <p:nvSpPr>
          <p:cNvPr id="132" name="Code"/>
          <p:cNvSpPr>
            <a:spLocks noGrp="1"/>
          </p:cNvSpPr>
          <p:nvPr>
            <p:ph type="body" idx="2"/>
          </p:nvPr>
        </p:nvSpPr>
        <p:spPr>
          <a:xfrm>
            <a:off x="571500" y="1524000"/>
            <a:ext cx="8001000" cy="30480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2400"/>
              </a:lnSpc>
              <a:spcBef>
                <a:spcPts val="0"/>
              </a:spcBef>
              <a:buNone/>
              <a:defRPr sz="1650" b="0">
                <a:solidFill>
                  <a:srgbClr val="FFFCFC"/>
                </a:solidFill>
                <a:latin typeface="Space Mono"/>
                <a:ea typeface="Space Mono"/>
                <a:cs typeface="Space Mono"/>
              </a:defRPr>
            </a:lvl1pPr>
          </a:lstStyle>
          <a:p>
            <a:r>
              <a:rPr lang="en-US"/>
              <a:t>$ command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Quote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Quote"/>
          <p:cNvSpPr>
            <a:spLocks noGrp="1"/>
          </p:cNvSpPr>
          <p:nvPr>
            <p:ph type="body" idx="1"/>
          </p:nvPr>
        </p:nvSpPr>
        <p:spPr>
          <a:xfrm>
            <a:off x="571500" y="1143000"/>
            <a:ext cx="7429500" cy="1571625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3450"/>
              </a:lnSpc>
              <a:spcBef>
                <a:spcPts val="0"/>
              </a:spcBef>
              <a:buNone/>
              <a:defRPr sz="30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“The quote, up to three lines.”</a:t>
            </a:r>
          </a:p>
        </p:txBody>
      </p:sp>
      <p:sp>
        <p:nvSpPr>
          <p:cNvPr id="134" name="Bar"/>
          <p:cNvSpPr/>
          <p:nvPr/>
        </p:nvSpPr>
        <p:spPr>
          <a:xfrm>
            <a:off x="571500" y="2857500"/>
            <a:ext cx="285750" cy="28575"/>
          </a:xfrm>
          <a:prstGeom prst="rect">
            <a:avLst/>
          </a:prstGeom>
          <a:solidFill>
            <a:srgbClr val="808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35" name="Author"/>
          <p:cNvSpPr>
            <a:spLocks noGrp="1"/>
          </p:cNvSpPr>
          <p:nvPr>
            <p:ph type="body" idx="2"/>
          </p:nvPr>
        </p:nvSpPr>
        <p:spPr>
          <a:xfrm>
            <a:off x="571500" y="3048000"/>
            <a:ext cx="5715000" cy="295275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2325"/>
              </a:lnSpc>
              <a:spcBef>
                <a:spcPts val="0"/>
              </a:spcBef>
              <a:buNone/>
              <a:defRPr sz="18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Author</a:t>
            </a:r>
          </a:p>
        </p:txBody>
      </p:sp>
      <p:sp>
        <p:nvSpPr>
          <p:cNvPr id="136" name="Source"/>
          <p:cNvSpPr>
            <a:spLocks noGrp="1"/>
          </p:cNvSpPr>
          <p:nvPr>
            <p:ph type="body" idx="3"/>
          </p:nvPr>
        </p:nvSpPr>
        <p:spPr>
          <a:xfrm>
            <a:off x="571500" y="3352800"/>
            <a:ext cx="5715000" cy="223838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1762"/>
              </a:lnSpc>
              <a:spcBef>
                <a:spcPts val="0"/>
              </a:spcBef>
              <a:buNone/>
              <a:defRPr sz="135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Where it was said</a:t>
            </a: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Diagram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Heading"/>
          <p:cNvSpPr>
            <a:spLocks noGrp="1"/>
          </p:cNvSpPr>
          <p:nvPr>
            <p:ph type="title"/>
          </p:nvPr>
        </p:nvSpPr>
        <p:spPr>
          <a:xfrm>
            <a:off x="571500" y="571500"/>
            <a:ext cx="8001000" cy="4572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3300"/>
              </a:lnSpc>
              <a:spcBef>
                <a:spcPts val="0"/>
              </a:spcBef>
              <a:buNone/>
              <a:defRPr sz="30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Heading</a:t>
            </a: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losing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EVENT_LINE"/>
          <p:cNvSpPr txBox="1"/>
          <p:nvPr/>
        </p:nvSpPr>
        <p:spPr>
          <a:xfrm>
            <a:off x="3429000" y="495300"/>
            <a:ext cx="5143500" cy="22383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r">
              <a:lnSpc>
                <a:spcPts val="1762"/>
              </a:lnSpc>
              <a:spcBef>
                <a:spcPts val="0"/>
              </a:spcBef>
              <a:buNone/>
              <a:defRPr sz="1350" b="0">
                <a:solidFill>
                  <a:srgbClr val="182232"/>
                </a:solidFill>
                <a:latin typeface="Space Mono"/>
                <a:ea typeface="Space Mono"/>
                <a:cs typeface="Space Mono"/>
              </a:defRPr>
            </a:lvl1pPr>
          </a:lstStyle>
          <a:p>
            <a:r>
              <a:rPr lang="en-US"/>
              <a:t>Devcon 8 · Builder Enablement &amp; BuidlGuidl</a:t>
            </a:r>
          </a:p>
        </p:txBody>
      </p:sp>
      <p:sp>
        <p:nvSpPr>
          <p:cNvPr id="139" name="Thanks"/>
          <p:cNvSpPr>
            <a:spLocks noGrp="1"/>
          </p:cNvSpPr>
          <p:nvPr>
            <p:ph type="title"/>
          </p:nvPr>
        </p:nvSpPr>
        <p:spPr>
          <a:xfrm>
            <a:off x="571500" y="895350"/>
            <a:ext cx="4000500" cy="1352550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>
            <a:lvl1pPr marL="0" indent="0" algn="l">
              <a:lnSpc>
                <a:spcPts val="3788"/>
              </a:lnSpc>
              <a:spcBef>
                <a:spcPts val="0"/>
              </a:spcBef>
              <a:buNone/>
              <a:defRPr sz="36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Thanks</a:t>
            </a:r>
          </a:p>
        </p:txBody>
      </p:sp>
      <p:sp>
        <p:nvSpPr>
          <p:cNvPr id="140" name="Speaker name"/>
          <p:cNvSpPr>
            <a:spLocks noGrp="1"/>
          </p:cNvSpPr>
          <p:nvPr>
            <p:ph type="body" idx="1"/>
          </p:nvPr>
        </p:nvSpPr>
        <p:spPr>
          <a:xfrm>
            <a:off x="571500" y="2514600"/>
            <a:ext cx="4000500" cy="295275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2325"/>
              </a:lnSpc>
              <a:spcBef>
                <a:spcPts val="0"/>
              </a:spcBef>
              <a:buNone/>
              <a:defRPr sz="18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41" name="Handles"/>
          <p:cNvSpPr>
            <a:spLocks noGrp="1"/>
          </p:cNvSpPr>
          <p:nvPr>
            <p:ph type="body" idx="2"/>
          </p:nvPr>
        </p:nvSpPr>
        <p:spPr>
          <a:xfrm>
            <a:off x="571500" y="2819400"/>
            <a:ext cx="4000500" cy="223838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1762"/>
              </a:lnSpc>
              <a:spcBef>
                <a:spcPts val="0"/>
              </a:spcBef>
              <a:buNone/>
              <a:defRPr sz="1350" b="0">
                <a:solidFill>
                  <a:srgbClr val="182232"/>
                </a:solidFill>
                <a:latin typeface="Space Mono"/>
                <a:ea typeface="Space Mono"/>
                <a:cs typeface="Space Mono"/>
              </a:defRPr>
            </a:lvl1pPr>
          </a:lstStyle>
          <a:p>
            <a:r>
              <a:rPr lang="en-US"/>
              <a:t>@handle on X and GitHub</a:t>
            </a:r>
          </a:p>
        </p:txBody>
      </p:sp>
      <p:sp>
        <p:nvSpPr>
          <p:cNvPr id="142" name="Link"/>
          <p:cNvSpPr>
            <a:spLocks noGrp="1"/>
          </p:cNvSpPr>
          <p:nvPr>
            <p:ph type="body" idx="3"/>
          </p:nvPr>
        </p:nvSpPr>
        <p:spPr>
          <a:xfrm>
            <a:off x="571500" y="3276600"/>
            <a:ext cx="4000500" cy="295275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2325"/>
              </a:lnSpc>
              <a:spcBef>
                <a:spcPts val="0"/>
              </a:spcBef>
              <a:buNone/>
              <a:defRPr sz="180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one-link.com</a:t>
            </a: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Up next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Up next"/>
          <p:cNvSpPr txBox="1"/>
          <p:nvPr/>
        </p:nvSpPr>
        <p:spPr>
          <a:xfrm>
            <a:off x="3429000" y="495300"/>
            <a:ext cx="5143500" cy="22383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r">
              <a:lnSpc>
                <a:spcPts val="1762"/>
              </a:lnSpc>
              <a:spcBef>
                <a:spcPts val="0"/>
              </a:spcBef>
              <a:buNone/>
              <a:defRPr sz="1350" b="0">
                <a:solidFill>
                  <a:srgbClr val="182232"/>
                </a:solidFill>
                <a:latin typeface="Space Mono"/>
                <a:ea typeface="Space Mono"/>
                <a:cs typeface="Space Mono"/>
              </a:defRPr>
            </a:lvl1pPr>
          </a:lstStyle>
          <a:p>
            <a:r>
              <a:rPr lang="en-US"/>
              <a:t>Up next</a:t>
            </a:r>
          </a:p>
        </p:txBody>
      </p:sp>
      <p:sp>
        <p:nvSpPr>
          <p:cNvPr id="144" name="Talk title"/>
          <p:cNvSpPr>
            <a:spLocks noGrp="1"/>
          </p:cNvSpPr>
          <p:nvPr>
            <p:ph type="title"/>
          </p:nvPr>
        </p:nvSpPr>
        <p:spPr>
          <a:xfrm>
            <a:off x="571500" y="895350"/>
            <a:ext cx="4000500" cy="1924050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>
            <a:lvl1pPr marL="0" indent="0" algn="l">
              <a:lnSpc>
                <a:spcPts val="3788"/>
              </a:lnSpc>
              <a:spcBef>
                <a:spcPts val="0"/>
              </a:spcBef>
              <a:buNone/>
              <a:defRPr sz="36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Talk title</a:t>
            </a:r>
          </a:p>
        </p:txBody>
      </p:sp>
      <p:sp>
        <p:nvSpPr>
          <p:cNvPr id="145" name="Speaker"/>
          <p:cNvSpPr>
            <a:spLocks noGrp="1"/>
          </p:cNvSpPr>
          <p:nvPr>
            <p:ph type="body" idx="1"/>
          </p:nvPr>
        </p:nvSpPr>
        <p:spPr>
          <a:xfrm>
            <a:off x="571500" y="3086100"/>
            <a:ext cx="4000500" cy="295275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2325"/>
              </a:lnSpc>
              <a:spcBef>
                <a:spcPts val="0"/>
              </a:spcBef>
              <a:buNone/>
              <a:defRPr sz="18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46" name="Time and room"/>
          <p:cNvSpPr>
            <a:spLocks noGrp="1"/>
          </p:cNvSpPr>
          <p:nvPr>
            <p:ph type="body" idx="2"/>
          </p:nvPr>
        </p:nvSpPr>
        <p:spPr>
          <a:xfrm>
            <a:off x="571500" y="3390900"/>
            <a:ext cx="4000500" cy="223838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1762"/>
              </a:lnSpc>
              <a:spcBef>
                <a:spcPts val="0"/>
              </a:spcBef>
              <a:buNone/>
              <a:defRPr sz="1350" b="0">
                <a:solidFill>
                  <a:srgbClr val="182232"/>
                </a:solidFill>
                <a:latin typeface="Space Mono"/>
                <a:ea typeface="Space Mono"/>
                <a:cs typeface="Space Mono"/>
              </a:defRPr>
            </a:lvl1pPr>
          </a:lstStyle>
          <a:p>
            <a:r>
              <a:rPr lang="en-US"/>
              <a:t>13:15 · Room</a:t>
            </a: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E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b"/>
          <a:lstStyle/>
          <a:p>
            <a:r>
              <a:t>Building on Ethereum with agents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Shiv Bhonde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@shivbhonde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Highlight"/>
          <p:cNvSpPr/>
          <p:nvPr/>
        </p:nvSpPr>
        <p:spPr>
          <a:xfrm>
            <a:off x="2243138" y="1952625"/>
            <a:ext cx="3190875" cy="747712"/>
          </a:xfrm>
          <a:prstGeom prst="roundRect">
            <a:avLst>
              <a:gd name="adj" fmla="val 10828"/>
            </a:avLst>
          </a:prstGeom>
          <a:solidFill>
            <a:srgbClr val="B5D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 agent can scaffold a dapp. Shipping it is still your job.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What that looks like with Scaffold-ETH 2, step by step.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the agent gets for free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contract, a deploy script and a frontend in one repo</a:t>
            </a:r>
          </a:p>
          <a:p>
            <a:r>
              <a:t>Typed hooks for every deployed contract</a:t>
            </a:r>
          </a:p>
          <a:p>
            <a:r>
              <a:t>A local chain, a burner wallet and a faucet</a:t>
            </a:r>
          </a:p>
          <a:p>
            <a:r>
              <a:t>A debug page that lists every function it can call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debug page is the agent's first UI</a:t>
            </a:r>
          </a:p>
        </p:txBody>
      </p:sp>
      <p:pic>
        <p:nvPicPr>
          <p:cNvPr id="3" name="Picture 2" descr="se2-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450" y="1409700"/>
            <a:ext cx="4233862" cy="3086100"/>
          </a:xfrm>
          <a:prstGeom prst="roundRect">
            <a:avLst>
              <a:gd name="adj" fmla="val 1852"/>
            </a:avLst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Three places to start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SpeedRun Ethereum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Seven challenges, from a simple NFT to a DEX.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Scaffold-ETH 2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r>
              <a:t>The toolkit for a real dapp, one command away.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r>
              <a:t>BuidlGuidl batches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r>
              <a:t>Build with a cohort and ship a project together.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Part 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Give the agent a contract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One command, one repo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terminal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>
                <a:solidFill>
                  <a:srgbClr val="9FA9FF"/>
                </a:solidFill>
              </a:rPr>
              <a:t>$</a:t>
            </a:r>
            <a:r>
              <a:t> npx create-eth@latest</a:t>
            </a:r>
          </a:p>
          <a:p>
            <a:r>
              <a:rPr>
                <a:solidFill>
                  <a:srgbClr val="9FA9FF"/>
                </a:solidFill>
              </a:rPr>
              <a:t>?</a:t>
            </a:r>
            <a:r>
              <a:t> Your project name: my-dapp</a:t>
            </a:r>
          </a:p>
          <a:p>
            <a:r>
              <a:rPr>
                <a:solidFill>
                  <a:srgbClr val="9FA9FF"/>
                </a:solidFill>
              </a:rPr>
              <a:t>?</a:t>
            </a:r>
            <a:r>
              <a:t> Solidity framework: hardhat</a:t>
            </a:r>
          </a:p>
          <a:p>
            <a:r>
              <a:rPr>
                <a:solidFill>
                  <a:srgbClr val="9FA9FF"/>
                </a:solidFill>
              </a:rPr>
              <a:t>?</a:t>
            </a:r>
            <a:r>
              <a:t> Install packages: yes</a:t>
            </a:r>
          </a:p>
          <a:p/>
          <a:p>
            <a:r>
              <a:rPr>
                <a:solidFill>
                  <a:srgbClr val="9FA9FF"/>
                </a:solidFill>
              </a:rPr>
              <a:t>$</a:t>
            </a:r>
            <a:r>
              <a:t> cd my-dapp</a:t>
            </a:r>
          </a:p>
          <a:p>
            <a:r>
              <a:rPr>
                <a:solidFill>
                  <a:srgbClr val="9FA9FF"/>
                </a:solidFill>
              </a:rPr>
              <a:t>$</a:t>
            </a:r>
            <a:r>
              <a:t> yarn chain</a:t>
            </a:r>
          </a:p>
          <a:p>
            <a:r>
              <a:rPr>
                <a:solidFill>
                  <a:srgbClr val="9FA9FF"/>
                </a:solidFill>
              </a:rPr>
              <a:t>$</a:t>
            </a:r>
            <a:r>
              <a:t> yarn deploy</a:t>
            </a:r>
          </a:p>
          <a:p>
            <a:r>
              <a:rPr>
                <a:solidFill>
                  <a:srgbClr val="9FA9FF"/>
                </a:solidFill>
              </a:rPr>
              <a:t>$</a:t>
            </a:r>
            <a:r>
              <a:t> yarn start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“Everything you need to build on Ethereum.”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Scaffold-ETH 2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scaffoldeth.io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From contract to UI in Scaffold-ETH 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71500" y="1905000"/>
            <a:ext cx="2476500" cy="1238250"/>
          </a:xfrm>
          <a:prstGeom prst="roundRect">
            <a:avLst>
              <a:gd name="adj" fmla="val 12307"/>
            </a:avLst>
          </a:prstGeom>
          <a:solidFill>
            <a:srgbClr val="D8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90500" rIns="190500" tIns="190500" bIns="190500" wrap="square"/>
          <a:lstStyle/>
          <a:p>
            <a:pPr algn="l">
              <a:lnSpc>
                <a:spcPts val="2325"/>
              </a:lnSpc>
            </a:pPr>
            <a:r>
              <a:rPr sz="18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rPr>
              <a:t>Write the contract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3295650"/>
            <a:ext cx="24765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762"/>
              </a:lnSpc>
            </a:pPr>
            <a:r>
              <a:rPr sz="135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rPr>
              <a:t>Solidity, with Hardhat or Foundry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067050" y="2524125"/>
            <a:ext cx="238125" cy="0"/>
          </a:xfrm>
          <a:prstGeom prst="line">
            <a:avLst/>
          </a:prstGeom>
          <a:ln w="19050">
            <a:solidFill>
              <a:srgbClr val="182232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3333750" y="1905000"/>
            <a:ext cx="2476500" cy="1238250"/>
          </a:xfrm>
          <a:prstGeom prst="roundRect">
            <a:avLst>
              <a:gd name="adj" fmla="val 12307"/>
            </a:avLst>
          </a:prstGeom>
          <a:solidFill>
            <a:srgbClr val="FFD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90500" rIns="190500" tIns="190500" bIns="190500" wrap="square"/>
          <a:lstStyle/>
          <a:p>
            <a:pPr algn="l">
              <a:lnSpc>
                <a:spcPts val="2325"/>
              </a:lnSpc>
            </a:pPr>
            <a:r>
              <a:rPr sz="18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rPr>
              <a:t>Deploy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3750" y="3295650"/>
            <a:ext cx="24765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762"/>
              </a:lnSpc>
            </a:pPr>
            <a:r>
              <a:rPr sz="1350" b="0">
                <a:solidFill>
                  <a:srgbClr val="182232"/>
                </a:solidFill>
                <a:latin typeface="Space Mono"/>
                <a:ea typeface="Space Mono"/>
                <a:cs typeface="Space Mono"/>
              </a:rPr>
              <a:t>yarn deploy writes deployedContracts.ts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829300" y="2524125"/>
            <a:ext cx="238125" cy="0"/>
          </a:xfrm>
          <a:prstGeom prst="line">
            <a:avLst/>
          </a:prstGeom>
          <a:ln w="19050">
            <a:solidFill>
              <a:srgbClr val="182232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096000" y="1905000"/>
            <a:ext cx="2476500" cy="1238250"/>
          </a:xfrm>
          <a:prstGeom prst="roundRect">
            <a:avLst>
              <a:gd name="adj" fmla="val 12307"/>
            </a:avLst>
          </a:prstGeom>
          <a:solidFill>
            <a:srgbClr val="EAFF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90500" rIns="190500" tIns="190500" bIns="190500" wrap="square"/>
          <a:lstStyle/>
          <a:p>
            <a:pPr algn="l">
              <a:lnSpc>
                <a:spcPts val="2325"/>
              </a:lnSpc>
            </a:pPr>
            <a:r>
              <a:rPr sz="18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rPr>
              <a:t>Read and write from React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0" y="3295650"/>
            <a:ext cx="24765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762"/>
              </a:lnSpc>
            </a:pPr>
            <a:r>
              <a:rPr sz="1350" b="0">
                <a:solidFill>
                  <a:srgbClr val="182232"/>
                </a:solidFill>
                <a:latin typeface="Space Mono"/>
                <a:ea typeface="Space Mono"/>
                <a:cs typeface="Space Mono"/>
              </a:rPr>
              <a:t>useScaffoldReadContract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Highlight"/>
          <p:cNvSpPr/>
          <p:nvPr/>
        </p:nvSpPr>
        <p:spPr>
          <a:xfrm>
            <a:off x="552450" y="3271838"/>
            <a:ext cx="1695450" cy="300038"/>
          </a:xfrm>
          <a:prstGeom prst="roundRect">
            <a:avLst>
              <a:gd name="adj" fmla="val 11111"/>
            </a:avLst>
          </a:prstGeom>
          <a:solidFill>
            <a:srgbClr val="B5D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b"/>
          <a:lstStyle/>
          <a:p>
            <a:r>
              <a:t>Thanks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Shiv Bhonde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@shivbhonde on X and GitHub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buidlguidl.com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b"/>
          <a:lstStyle/>
          <a:p>
            <a:r>
              <a:t>Building on Ethereum with agents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Shiv Bhonde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13:15 · Workshop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82232"/>
      </a:dk1>
      <a:lt1>
        <a:srgbClr val="FFFCFC"/>
      </a:lt1>
      <a:dk2>
        <a:srgbClr val="182232"/>
      </a:dk2>
      <a:lt2>
        <a:srgbClr val="EBECFE"/>
      </a:lt2>
      <a:accent1>
        <a:srgbClr val="808CFF"/>
      </a:accent1>
      <a:accent2>
        <a:srgbClr val="FF6E1D"/>
      </a:accent2>
      <a:accent3>
        <a:srgbClr val="B5DC3A"/>
      </a:accent3>
      <a:accent4>
        <a:srgbClr val="D8DCFF"/>
      </a:accent4>
      <a:accent5>
        <a:srgbClr val="FFD4B5"/>
      </a:accent5>
      <a:accent6>
        <a:srgbClr val="9FA9FF"/>
      </a:accent6>
      <a:hlink>
        <a:srgbClr val="0000FF"/>
      </a:hlink>
      <a:folHlink>
        <a:srgbClr val="800080"/>
      </a:folHlink>
    </a:clrScheme>
    <a:fontScheme name="Office">
      <a:majorFont>
        <a:latin typeface="Space Grotesk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pace Grotesk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