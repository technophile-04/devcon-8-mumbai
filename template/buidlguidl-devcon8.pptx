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EVENT_LINE"/>
          <p:cNvSpPr txBox="1"/>
          <p:nvPr/>
        </p:nvSpPr>
        <p:spPr>
          <a:xfrm>
            <a:off x="571500" y="952500"/>
            <a:ext cx="4762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02" name="Talk title"/>
          <p:cNvSpPr>
            <a:spLocks noGrp="1"/>
          </p:cNvSpPr>
          <p:nvPr>
            <p:ph type="title"/>
          </p:nvPr>
        </p:nvSpPr>
        <p:spPr>
          <a:xfrm>
            <a:off x="571500" y="1333500"/>
            <a:ext cx="4000500" cy="14763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03" name="Speaker name"/>
          <p:cNvSpPr>
            <a:spLocks noGrp="1"/>
          </p:cNvSpPr>
          <p:nvPr>
            <p:ph type="body" idx="1"/>
          </p:nvPr>
        </p:nvSpPr>
        <p:spPr>
          <a:xfrm>
            <a:off x="571500" y="2971800"/>
            <a:ext cx="428625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04" name="Role or handle"/>
          <p:cNvSpPr>
            <a:spLocks noGrp="1"/>
          </p:cNvSpPr>
          <p:nvPr>
            <p:ph type="body" idx="2"/>
          </p:nvPr>
        </p:nvSpPr>
        <p:spPr>
          <a:xfrm>
            <a:off x="571500" y="3276600"/>
            <a:ext cx="428625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Role · @handle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tatement"/>
          <p:cNvSpPr>
            <a:spLocks noGrp="1"/>
          </p:cNvSpPr>
          <p:nvPr>
            <p:ph type="body" idx="1"/>
          </p:nvPr>
        </p:nvSpPr>
        <p:spPr>
          <a:xfrm>
            <a:off x="571500" y="1428750"/>
            <a:ext cx="8001000" cy="1905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725"/>
              </a:lnSpc>
              <a:spcBef>
                <a:spcPts val="0"/>
              </a:spcBef>
              <a:buNone/>
              <a:defRPr sz="45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big line, one highlighted phrase</a:t>
            </a:r>
          </a:p>
        </p:txBody>
      </p:sp>
      <p:sp>
        <p:nvSpPr>
          <p:cNvPr id="106" name="Sub-line"/>
          <p:cNvSpPr>
            <a:spLocks noGrp="1"/>
          </p:cNvSpPr>
          <p:nvPr>
            <p:ph type="body" idx="2"/>
          </p:nvPr>
        </p:nvSpPr>
        <p:spPr>
          <a:xfrm>
            <a:off x="571500" y="3619500"/>
            <a:ext cx="8001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Optional sub-line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eading + body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ing"/>
          <p:cNvSpPr>
            <a:spLocks noGrp="1"/>
          </p:cNvSpPr>
          <p:nvPr>
            <p:ph type="title"/>
          </p:nvPr>
        </p:nvSpPr>
        <p:spPr>
          <a:xfrm>
            <a:off x="571500" y="457200"/>
            <a:ext cx="8001000" cy="838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08" name="Body"/>
          <p:cNvSpPr>
            <a:spLocks noGrp="1"/>
          </p:cNvSpPr>
          <p:nvPr>
            <p:ph type="body" idx="1"/>
          </p:nvPr>
        </p:nvSpPr>
        <p:spPr>
          <a:xfrm>
            <a:off x="571500" y="1524000"/>
            <a:ext cx="8001000" cy="31623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304800" indent="-304800" algn="l">
              <a:lnSpc>
                <a:spcPts val="2325"/>
              </a:lnSpc>
              <a:spcBef>
                <a:spcPts val="1200"/>
              </a:spcBef>
              <a:buClr>
                <a:srgbClr val="808CFF"/>
              </a:buClr>
              <a:buSzPct val="80000"/>
              <a:buFont typeface="Arial"/>
              <a:buChar char="●"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Short lines, at most four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eading + imag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eading"/>
          <p:cNvSpPr>
            <a:spLocks noGrp="1"/>
          </p:cNvSpPr>
          <p:nvPr>
            <p:ph type="title"/>
          </p:nvPr>
        </p:nvSpPr>
        <p:spPr>
          <a:xfrm>
            <a:off x="571500" y="4572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0" name="Image panel"/>
          <p:cNvSpPr/>
          <p:nvPr/>
        </p:nvSpPr>
        <p:spPr>
          <a:xfrm>
            <a:off x="571500" y="1104900"/>
            <a:ext cx="8001000" cy="3581400"/>
          </a:xfrm>
          <a:prstGeom prst="roundRect">
            <a:avLst>
              <a:gd name="adj" fmla="val 2128"/>
            </a:avLst>
          </a:prstGeom>
          <a:solidFill>
            <a:srgbClr val="D8D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Image"/>
          <p:cNvSpPr>
            <a:spLocks noGrp="1"/>
          </p:cNvSpPr>
          <p:nvPr>
            <p:ph type="pic" idx="1"/>
          </p:nvPr>
        </p:nvSpPr>
        <p:spPr>
          <a:xfrm>
            <a:off x="762000" y="1295400"/>
            <a:ext cx="7620000" cy="3200400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Heading"/>
          <p:cNvSpPr>
            <a:spLocks noGrp="1"/>
          </p:cNvSpPr>
          <p:nvPr>
            <p:ph type="title"/>
          </p:nvPr>
        </p:nvSpPr>
        <p:spPr>
          <a:xfrm>
            <a:off x="571500" y="4572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3" name="Card 1"/>
          <p:cNvSpPr/>
          <p:nvPr/>
        </p:nvSpPr>
        <p:spPr>
          <a:xfrm>
            <a:off x="5715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Pill 1"/>
          <p:cNvSpPr/>
          <p:nvPr/>
        </p:nvSpPr>
        <p:spPr>
          <a:xfrm>
            <a:off x="8001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ill number 1"/>
          <p:cNvSpPr txBox="1"/>
          <p:nvPr/>
        </p:nvSpPr>
        <p:spPr>
          <a:xfrm>
            <a:off x="8001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116" name="Column 1 title"/>
          <p:cNvSpPr>
            <a:spLocks noGrp="1"/>
          </p:cNvSpPr>
          <p:nvPr>
            <p:ph type="body" idx="1"/>
          </p:nvPr>
        </p:nvSpPr>
        <p:spPr>
          <a:xfrm>
            <a:off x="8001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17" name="Column 1 text"/>
          <p:cNvSpPr>
            <a:spLocks noGrp="1"/>
          </p:cNvSpPr>
          <p:nvPr>
            <p:ph type="body" idx="2"/>
          </p:nvPr>
        </p:nvSpPr>
        <p:spPr>
          <a:xfrm>
            <a:off x="8001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18" name="Card 2"/>
          <p:cNvSpPr/>
          <p:nvPr/>
        </p:nvSpPr>
        <p:spPr>
          <a:xfrm>
            <a:off x="33147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Pill 2"/>
          <p:cNvSpPr/>
          <p:nvPr/>
        </p:nvSpPr>
        <p:spPr>
          <a:xfrm>
            <a:off x="35433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FF6E1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Pill number 2"/>
          <p:cNvSpPr txBox="1"/>
          <p:nvPr/>
        </p:nvSpPr>
        <p:spPr>
          <a:xfrm>
            <a:off x="35433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02</a:t>
            </a:r>
          </a:p>
        </p:txBody>
      </p:sp>
      <p:sp>
        <p:nvSpPr>
          <p:cNvPr id="121" name="Column 2 title"/>
          <p:cNvSpPr>
            <a:spLocks noGrp="1"/>
          </p:cNvSpPr>
          <p:nvPr>
            <p:ph type="body" idx="3"/>
          </p:nvPr>
        </p:nvSpPr>
        <p:spPr>
          <a:xfrm>
            <a:off x="35433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2" name="Column 2 text"/>
          <p:cNvSpPr>
            <a:spLocks noGrp="1"/>
          </p:cNvSpPr>
          <p:nvPr>
            <p:ph type="body" idx="4"/>
          </p:nvPr>
        </p:nvSpPr>
        <p:spPr>
          <a:xfrm>
            <a:off x="35433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23" name="Card 3"/>
          <p:cNvSpPr/>
          <p:nvPr/>
        </p:nvSpPr>
        <p:spPr>
          <a:xfrm>
            <a:off x="6057900" y="1238250"/>
            <a:ext cx="2514600" cy="24765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Pill 3"/>
          <p:cNvSpPr/>
          <p:nvPr/>
        </p:nvSpPr>
        <p:spPr>
          <a:xfrm>
            <a:off x="6286500" y="1466850"/>
            <a:ext cx="457200" cy="304800"/>
          </a:xfrm>
          <a:prstGeom prst="roundRect">
            <a:avLst>
              <a:gd name="adj" fmla="val 25000"/>
            </a:avLst>
          </a:prstGeom>
          <a:solidFill>
            <a:srgbClr val="B5DC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Pill number 3"/>
          <p:cNvSpPr txBox="1"/>
          <p:nvPr/>
        </p:nvSpPr>
        <p:spPr>
          <a:xfrm>
            <a:off x="6286500" y="1533525"/>
            <a:ext cx="4572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03</a:t>
            </a:r>
          </a:p>
        </p:txBody>
      </p:sp>
      <p:sp>
        <p:nvSpPr>
          <p:cNvPr id="126" name="Column 3 title"/>
          <p:cNvSpPr>
            <a:spLocks noGrp="1"/>
          </p:cNvSpPr>
          <p:nvPr>
            <p:ph type="body" idx="5"/>
          </p:nvPr>
        </p:nvSpPr>
        <p:spPr>
          <a:xfrm>
            <a:off x="6286500" y="1924050"/>
            <a:ext cx="2057400" cy="571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7" name="Column 3 text"/>
          <p:cNvSpPr>
            <a:spLocks noGrp="1"/>
          </p:cNvSpPr>
          <p:nvPr>
            <p:ph type="body" idx="6"/>
          </p:nvPr>
        </p:nvSpPr>
        <p:spPr>
          <a:xfrm>
            <a:off x="6286500" y="2590800"/>
            <a:ext cx="2057400" cy="952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art number"/>
          <p:cNvSpPr>
            <a:spLocks noGrp="1"/>
          </p:cNvSpPr>
          <p:nvPr>
            <p:ph type="body" idx="1"/>
          </p:nvPr>
        </p:nvSpPr>
        <p:spPr>
          <a:xfrm>
            <a:off x="571500" y="1866900"/>
            <a:ext cx="47625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1</a:t>
            </a:r>
          </a:p>
        </p:txBody>
      </p:sp>
      <p:sp>
        <p:nvSpPr>
          <p:cNvPr id="129" name="Part title"/>
          <p:cNvSpPr>
            <a:spLocks noGrp="1"/>
          </p:cNvSpPr>
          <p:nvPr>
            <p:ph type="title"/>
          </p:nvPr>
        </p:nvSpPr>
        <p:spPr>
          <a:xfrm>
            <a:off x="571500" y="2171700"/>
            <a:ext cx="4762500" cy="18097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725"/>
              </a:lnSpc>
              <a:spcBef>
                <a:spcPts val="0"/>
              </a:spcBef>
              <a:buNone/>
              <a:defRPr sz="45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title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Heading"/>
          <p:cNvSpPr>
            <a:spLocks noGrp="1"/>
          </p:cNvSpPr>
          <p:nvPr>
            <p:ph type="title"/>
          </p:nvPr>
        </p:nvSpPr>
        <p:spPr>
          <a:xfrm>
            <a:off x="571500" y="4572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FFFCFC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1" name="Code label"/>
          <p:cNvSpPr>
            <a:spLocks noGrp="1"/>
          </p:cNvSpPr>
          <p:nvPr>
            <p:ph type="body" idx="1"/>
          </p:nvPr>
        </p:nvSpPr>
        <p:spPr>
          <a:xfrm>
            <a:off x="571500" y="1219200"/>
            <a:ext cx="80010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9FA9FF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terminal</a:t>
            </a:r>
          </a:p>
        </p:txBody>
      </p:sp>
      <p:sp>
        <p:nvSpPr>
          <p:cNvPr id="132" name="Code"/>
          <p:cNvSpPr>
            <a:spLocks noGrp="1"/>
          </p:cNvSpPr>
          <p:nvPr>
            <p:ph type="body" idx="2"/>
          </p:nvPr>
        </p:nvSpPr>
        <p:spPr>
          <a:xfrm>
            <a:off x="571500" y="1524000"/>
            <a:ext cx="8001000" cy="3048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400"/>
              </a:lnSpc>
              <a:spcBef>
                <a:spcPts val="0"/>
              </a:spcBef>
              <a:buNone/>
              <a:defRPr sz="1650" b="0">
                <a:solidFill>
                  <a:srgbClr val="FFFCFC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$ command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Quot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Quote"/>
          <p:cNvSpPr>
            <a:spLocks noGrp="1"/>
          </p:cNvSpPr>
          <p:nvPr>
            <p:ph type="body" idx="1"/>
          </p:nvPr>
        </p:nvSpPr>
        <p:spPr>
          <a:xfrm>
            <a:off x="571500" y="1143000"/>
            <a:ext cx="7429500" cy="157162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45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“The quote, up to three lines.”</a:t>
            </a:r>
          </a:p>
        </p:txBody>
      </p:sp>
      <p:sp>
        <p:nvSpPr>
          <p:cNvPr id="134" name="Bar"/>
          <p:cNvSpPr/>
          <p:nvPr/>
        </p:nvSpPr>
        <p:spPr>
          <a:xfrm>
            <a:off x="571500" y="2857500"/>
            <a:ext cx="285750" cy="28575"/>
          </a:xfrm>
          <a:prstGeom prst="rect">
            <a:avLst/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Author"/>
          <p:cNvSpPr>
            <a:spLocks noGrp="1"/>
          </p:cNvSpPr>
          <p:nvPr>
            <p:ph type="body" idx="2"/>
          </p:nvPr>
        </p:nvSpPr>
        <p:spPr>
          <a:xfrm>
            <a:off x="571500" y="3048000"/>
            <a:ext cx="5715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Author</a:t>
            </a:r>
          </a:p>
        </p:txBody>
      </p:sp>
      <p:sp>
        <p:nvSpPr>
          <p:cNvPr id="136" name="Source"/>
          <p:cNvSpPr>
            <a:spLocks noGrp="1"/>
          </p:cNvSpPr>
          <p:nvPr>
            <p:ph type="body" idx="3"/>
          </p:nvPr>
        </p:nvSpPr>
        <p:spPr>
          <a:xfrm>
            <a:off x="571500" y="3352800"/>
            <a:ext cx="5715000" cy="22383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Where it was said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Diagra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Heading"/>
          <p:cNvSpPr>
            <a:spLocks noGrp="1"/>
          </p:cNvSpPr>
          <p:nvPr>
            <p:ph type="title"/>
          </p:nvPr>
        </p:nvSpPr>
        <p:spPr>
          <a:xfrm>
            <a:off x="571500" y="457200"/>
            <a:ext cx="8001000" cy="457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EVENT_LINE"/>
          <p:cNvSpPr txBox="1"/>
          <p:nvPr/>
        </p:nvSpPr>
        <p:spPr>
          <a:xfrm>
            <a:off x="571500" y="952500"/>
            <a:ext cx="4762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39" name="Thanks"/>
          <p:cNvSpPr>
            <a:spLocks noGrp="1"/>
          </p:cNvSpPr>
          <p:nvPr>
            <p:ph type="title"/>
          </p:nvPr>
        </p:nvSpPr>
        <p:spPr>
          <a:xfrm>
            <a:off x="571500" y="1333500"/>
            <a:ext cx="4000500" cy="5238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Thanks</a:t>
            </a:r>
          </a:p>
        </p:txBody>
      </p:sp>
      <p:sp>
        <p:nvSpPr>
          <p:cNvPr id="140" name="Speaker name"/>
          <p:cNvSpPr>
            <a:spLocks noGrp="1"/>
          </p:cNvSpPr>
          <p:nvPr>
            <p:ph type="body" idx="1"/>
          </p:nvPr>
        </p:nvSpPr>
        <p:spPr>
          <a:xfrm>
            <a:off x="571500" y="2095500"/>
            <a:ext cx="4191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1" name="Handles"/>
          <p:cNvSpPr>
            <a:spLocks noGrp="1"/>
          </p:cNvSpPr>
          <p:nvPr>
            <p:ph type="body" idx="2"/>
          </p:nvPr>
        </p:nvSpPr>
        <p:spPr>
          <a:xfrm>
            <a:off x="571500" y="2400300"/>
            <a:ext cx="4191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@handle on X and GitHub</a:t>
            </a:r>
          </a:p>
        </p:txBody>
      </p:sp>
      <p:sp>
        <p:nvSpPr>
          <p:cNvPr id="142" name="Link"/>
          <p:cNvSpPr>
            <a:spLocks noGrp="1"/>
          </p:cNvSpPr>
          <p:nvPr>
            <p:ph type="body" idx="3"/>
          </p:nvPr>
        </p:nvSpPr>
        <p:spPr>
          <a:xfrm>
            <a:off x="571500" y="2781300"/>
            <a:ext cx="419100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one-link.com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Up nex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Up next"/>
          <p:cNvSpPr txBox="1"/>
          <p:nvPr/>
        </p:nvSpPr>
        <p:spPr>
          <a:xfrm>
            <a:off x="571500" y="952500"/>
            <a:ext cx="4762500" cy="22383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1762"/>
              </a:lnSpc>
              <a:spcBef>
                <a:spcPts val="0"/>
              </a:spcBef>
              <a:buNone/>
              <a:def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Up next</a:t>
            </a:r>
          </a:p>
        </p:txBody>
      </p:sp>
      <p:sp>
        <p:nvSpPr>
          <p:cNvPr id="144" name="Talk title"/>
          <p:cNvSpPr>
            <a:spLocks noGrp="1"/>
          </p:cNvSpPr>
          <p:nvPr>
            <p:ph type="title"/>
          </p:nvPr>
        </p:nvSpPr>
        <p:spPr>
          <a:xfrm>
            <a:off x="571500" y="1333500"/>
            <a:ext cx="4000500" cy="14763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788"/>
              </a:lnSpc>
              <a:spcBef>
                <a:spcPts val="0"/>
              </a:spcBef>
              <a:buNone/>
              <a:defRPr sz="36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45" name="Speaker"/>
          <p:cNvSpPr>
            <a:spLocks noGrp="1"/>
          </p:cNvSpPr>
          <p:nvPr>
            <p:ph type="body" idx="1"/>
          </p:nvPr>
        </p:nvSpPr>
        <p:spPr>
          <a:xfrm>
            <a:off x="571500" y="2971800"/>
            <a:ext cx="428625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Speaker, affiliation</a:t>
            </a:r>
          </a:p>
        </p:txBody>
      </p:sp>
      <p:sp>
        <p:nvSpPr>
          <p:cNvPr id="146" name="Time and room"/>
          <p:cNvSpPr>
            <a:spLocks noGrp="1"/>
          </p:cNvSpPr>
          <p:nvPr>
            <p:ph type="body" idx="2"/>
          </p:nvPr>
        </p:nvSpPr>
        <p:spPr>
          <a:xfrm>
            <a:off x="571500" y="3276600"/>
            <a:ext cx="4286250" cy="2952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25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13:15 · Room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BuidlGuidl · @shivbhonde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Highlight"/>
          <p:cNvSpPr/>
          <p:nvPr/>
        </p:nvSpPr>
        <p:spPr>
          <a:xfrm>
            <a:off x="2243138" y="1952625"/>
            <a:ext cx="3190875" cy="747712"/>
          </a:xfrm>
          <a:prstGeom prst="roundRect">
            <a:avLst>
              <a:gd name="adj" fmla="val 10828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can scaffold a dapp. Shipping it is still your job.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What that looks like with Scaffold-ETH 2, step by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agent gets for free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contract, a deploy script and a frontend in one repo</a:t>
            </a:r>
          </a:p>
          <a:p>
            <a:r>
              <a:t>Typed hooks for every deployed contract</a:t>
            </a:r>
          </a:p>
          <a:p>
            <a:r>
              <a:t>A local chain, a burner wallet and a faucet</a:t>
            </a:r>
          </a:p>
          <a:p>
            <a:r>
              <a:t>A debug page that lists every function it can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debug page is the agent's first UI</a:t>
            </a:r>
          </a:p>
        </p:txBody>
      </p:sp>
      <p:pic>
        <p:nvPicPr>
          <p:cNvPr id="3" name="Picture 2" descr="se2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838" y="1114425"/>
            <a:ext cx="4886325" cy="3562350"/>
          </a:xfrm>
          <a:prstGeom prst="roundRect">
            <a:avLst>
              <a:gd name="adj" fmla="val 1604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places to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SpeedRun Ethereum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Seven challenges, from a simple NFT to a DEX.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The toolkit for a real dapp, one command 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BuidlGuidl batches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r>
              <a:t>Build with a cohort and ship a project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Give the agent a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command, one repo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9FA9FF"/>
                </a:solidFill>
              </a:rPr>
              <a:t>$</a:t>
            </a:r>
            <a:r>
              <a:t> npx create-eth@latest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Your project name: my-dapp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Solidity framework: hardhat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Install packages: yes</a:t>
            </a:r>
          </a:p>
          <a:p/>
          <a:p>
            <a:r>
              <a:rPr>
                <a:solidFill>
                  <a:srgbClr val="9FA9FF"/>
                </a:solidFill>
              </a:rPr>
              <a:t>$</a:t>
            </a:r>
            <a:r>
              <a:t> cd my-dapp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chain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deploy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you need to build on Ethereum.”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scaffoldeth.io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contract to UI in Scaffold-ETH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150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D8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Write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Solidity, with Hardhat or Foundry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67050" y="2524125"/>
            <a:ext cx="238125" cy="0"/>
          </a:xfrm>
          <a:prstGeom prst="line">
            <a:avLst/>
          </a:prstGeom>
          <a:ln w="1905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33375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FFD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Deploy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375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yarn deploy writes deployedContracts.ts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29300" y="2524125"/>
            <a:ext cx="238125" cy="0"/>
          </a:xfrm>
          <a:prstGeom prst="line">
            <a:avLst/>
          </a:prstGeom>
          <a:ln w="1905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96000" y="1905000"/>
            <a:ext cx="2476500" cy="1238250"/>
          </a:xfrm>
          <a:prstGeom prst="roundRect">
            <a:avLst>
              <a:gd name="adj" fmla="val 12307"/>
            </a:avLst>
          </a:prstGeom>
          <a:solidFill>
            <a:srgbClr val="EAF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90500" tIns="190500" bIns="190500" wrap="square"/>
          <a:lstStyle/>
          <a:p>
            <a:pPr algn="l">
              <a:lnSpc>
                <a:spcPts val="2325"/>
              </a:lnSpc>
            </a:pPr>
            <a:r>
              <a:rPr sz="1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Read and write from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3295650"/>
            <a:ext cx="2476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62"/>
              </a:lnSpc>
            </a:pPr>
            <a:r>
              <a:rPr sz="135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useScaffoldReadContract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Highlight"/>
          <p:cNvSpPr/>
          <p:nvPr/>
        </p:nvSpPr>
        <p:spPr>
          <a:xfrm>
            <a:off x="552450" y="2776538"/>
            <a:ext cx="1695450" cy="300038"/>
          </a:xfrm>
          <a:prstGeom prst="roundRect">
            <a:avLst>
              <a:gd name="adj" fmla="val 11111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 on X and GitHub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buidlguidl.com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Bhonde, BuidlGuidl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13:15 · Workshop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2232"/>
      </a:dk1>
      <a:lt1>
        <a:srgbClr val="FFFCFC"/>
      </a:lt1>
      <a:dk2>
        <a:srgbClr val="182232"/>
      </a:dk2>
      <a:lt2>
        <a:srgbClr val="F4F4F4"/>
      </a:lt2>
      <a:accent1>
        <a:srgbClr val="808CFF"/>
      </a:accent1>
      <a:accent2>
        <a:srgbClr val="FF6E1D"/>
      </a:accent2>
      <a:accent3>
        <a:srgbClr val="B5DC3A"/>
      </a:accent3>
      <a:accent4>
        <a:srgbClr val="D8DCFF"/>
      </a:accent4>
      <a:accent5>
        <a:srgbClr val="FFD4B5"/>
      </a:accent5>
      <a:accent6>
        <a:srgbClr val="9FA9FF"/>
      </a:accent6>
      <a:hlink>
        <a:srgbClr val="0000FF"/>
      </a:hlink>
      <a:folHlink>
        <a:srgbClr val="800080"/>
      </a:folHlink>
    </a:clrScheme>
    <a:fontScheme name="Office">
      <a:maj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